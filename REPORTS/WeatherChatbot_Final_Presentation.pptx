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TdVTIkuxWGbSWo3GmGykiwtPY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Google Colab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is a cloud-based Python environment used to run machine learning and NLP programs without installing software locally.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spaCy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is an advanced Natural Language Processing (NLP) library.Supports AI , DL , ML.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NLTK is a popular Python library for basic NLP tasks.Supports tokenizaion , classification , stemming , tagging , parsing. (text based)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NumPy is used for numerical computations in Python.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Pandas is used for data manipulation and analysis.Used to:Load datasets (.csv/.tsv files) ,Clean data ,Filter and process text datasets,Provides DataFrame structures for easy data handling.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Matplotlib is a visualization library.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C4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400800" y="-1097280"/>
            <a:ext cx="5029200" cy="5029200"/>
          </a:xfrm>
          <a:prstGeom prst="ellipse">
            <a:avLst/>
          </a:prstGeom>
          <a:solidFill>
            <a:srgbClr val="054A72"/>
          </a:solidFill>
          <a:ln cap="flat" cmpd="sng" w="12700">
            <a:solidFill>
              <a:srgbClr val="054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223760" y="-457200"/>
            <a:ext cx="3474720" cy="3474720"/>
          </a:xfrm>
          <a:prstGeom prst="ellipse">
            <a:avLst/>
          </a:prstGeom>
          <a:solidFill>
            <a:srgbClr val="1A8FA0">
              <a:alpha val="25098"/>
            </a:srgbClr>
          </a:solidFill>
          <a:ln cap="flat" cmpd="sng" w="12700">
            <a:solidFill>
              <a:srgbClr val="1A8FA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54A72"/>
          </a:solidFill>
          <a:ln cap="flat" cmpd="sng" w="12700">
            <a:solidFill>
              <a:srgbClr val="054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365760"/>
            <a:ext cx="1371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Calibri"/>
              <a:buNone/>
            </a:pPr>
            <a:r>
              <a:rPr b="0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⛅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11480" y="1325880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WEATHER FORECAST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1480" y="1938528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D4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5BC8D4"/>
                </a:solidFill>
                <a:latin typeface="Calibri"/>
                <a:ea typeface="Calibri"/>
                <a:cs typeface="Calibri"/>
                <a:sym typeface="Calibri"/>
              </a:rPr>
              <a:t>CHATBOT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1480" y="2670048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E6CF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A8E6CF"/>
                </a:solidFill>
                <a:latin typeface="Calibri"/>
                <a:ea typeface="Calibri"/>
                <a:cs typeface="Calibri"/>
                <a:sym typeface="Calibri"/>
              </a:rPr>
              <a:t>NLP-Powered Conversational AI for Real-Time Weather Intelligence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11480" y="3127248"/>
            <a:ext cx="3840480" cy="54864"/>
          </a:xfrm>
          <a:prstGeom prst="rect">
            <a:avLst/>
          </a:prstGeom>
          <a:solidFill>
            <a:srgbClr val="1A8FA0"/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11480" y="3273552"/>
            <a:ext cx="2743200" cy="274320"/>
          </a:xfrm>
          <a:prstGeom prst="rect">
            <a:avLst/>
          </a:prstGeom>
          <a:solidFill>
            <a:srgbClr val="1A8FA0">
              <a:alpha val="70196"/>
            </a:srgbClr>
          </a:solidFill>
          <a:ln cap="flat" cmpd="sng" w="9525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02920" y="3273552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C8D4"/>
                </a:solidFill>
                <a:latin typeface="Calibri"/>
                <a:ea typeface="Calibri"/>
                <a:cs typeface="Calibri"/>
                <a:sym typeface="Calibri"/>
              </a:rPr>
              <a:t>Natural Language Processing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11480" y="3621024"/>
            <a:ext cx="2743200" cy="274320"/>
          </a:xfrm>
          <a:prstGeom prst="rect">
            <a:avLst/>
          </a:prstGeom>
          <a:solidFill>
            <a:srgbClr val="054A72">
              <a:alpha val="70196"/>
            </a:srgbClr>
          </a:solidFill>
          <a:ln cap="flat" cmpd="sng" w="9525">
            <a:solidFill>
              <a:srgbClr val="054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502920" y="3621024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C8D4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11480" y="3968496"/>
            <a:ext cx="2743200" cy="274320"/>
          </a:xfrm>
          <a:prstGeom prst="rect">
            <a:avLst/>
          </a:prstGeom>
          <a:solidFill>
            <a:srgbClr val="1A6E8A">
              <a:alpha val="70196"/>
            </a:srgbClr>
          </a:solidFill>
          <a:ln cap="flat" cmpd="sng" w="9525">
            <a:solidFill>
              <a:srgbClr val="1A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02920" y="3968496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C8D4"/>
                </a:solidFill>
                <a:latin typeface="Calibri"/>
                <a:ea typeface="Calibri"/>
                <a:cs typeface="Calibri"/>
                <a:sym typeface="Calibri"/>
              </a:rPr>
              <a:t>Sentiment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11480" y="4315968"/>
            <a:ext cx="2743200" cy="274320"/>
          </a:xfrm>
          <a:prstGeom prst="rect">
            <a:avLst/>
          </a:prstGeom>
          <a:solidFill>
            <a:srgbClr val="0D4F63">
              <a:alpha val="70196"/>
            </a:srgbClr>
          </a:solidFill>
          <a:ln cap="flat" cmpd="sng" w="9525">
            <a:solidFill>
              <a:srgbClr val="0D4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502920" y="43159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D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C8D4"/>
                </a:solidFill>
                <a:latin typeface="Calibri"/>
                <a:ea typeface="Calibri"/>
                <a:cs typeface="Calibri"/>
                <a:sym typeface="Calibri"/>
              </a:rPr>
              <a:t>spaCy · NLTK · Sklearn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1148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A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AAB8"/>
                </a:solidFill>
                <a:latin typeface="Calibri"/>
                <a:ea typeface="Calibri"/>
                <a:cs typeface="Calibri"/>
                <a:sym typeface="Calibri"/>
              </a:rPr>
              <a:t>Academic Project Presentation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62C43"/>
          </a:solidFill>
          <a:ln cap="flat" cmpd="sng" w="12700">
            <a:solidFill>
              <a:srgbClr val="062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C8D4"/>
                </a:solidFill>
                <a:latin typeface="Calibri"/>
                <a:ea typeface="Calibri"/>
                <a:cs typeface="Calibri"/>
                <a:sym typeface="Calibri"/>
              </a:rPr>
              <a:t>Weather Forecast Chatbot  |  NLP &amp; ML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858000" y="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A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AB8"/>
                </a:solidFill>
                <a:latin typeface="Calibri"/>
                <a:ea typeface="Calibri"/>
                <a:cs typeface="Calibri"/>
                <a:sym typeface="Calibri"/>
              </a:rPr>
              <a:t>IT Department  | 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11480" y="59436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11480" y="11155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FA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1A8FA0"/>
                </a:solidFill>
                <a:latin typeface="Calibri"/>
                <a:ea typeface="Calibri"/>
                <a:cs typeface="Calibri"/>
                <a:sym typeface="Calibri"/>
              </a:rPr>
              <a:t>The challenge we aim to solve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11480" y="1417320"/>
            <a:ext cx="1097280" cy="50292"/>
          </a:xfrm>
          <a:prstGeom prst="rect">
            <a:avLst/>
          </a:prstGeom>
          <a:solidFill>
            <a:srgbClr val="1A8FA0"/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1536192" y="1417320"/>
            <a:ext cx="7196328" cy="50292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EA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320040" y="1572768"/>
            <a:ext cx="5212080" cy="338328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8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502920" y="1664208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The Core Problem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75488" y="2121408"/>
            <a:ext cx="256032" cy="256032"/>
          </a:xfrm>
          <a:prstGeom prst="ellipse">
            <a:avLst/>
          </a:prstGeom>
          <a:solidFill>
            <a:srgbClr val="1A8FA0"/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75488" y="212140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822960" y="2084832"/>
            <a:ext cx="4526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2136"/>
                </a:solidFill>
                <a:latin typeface="Calibri"/>
                <a:ea typeface="Calibri"/>
                <a:cs typeface="Calibri"/>
                <a:sym typeface="Calibri"/>
              </a:rPr>
              <a:t>Weather data is scattered across apps, APIs, and text — hard to query conversationally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75488" y="2651760"/>
            <a:ext cx="256032" cy="256032"/>
          </a:xfrm>
          <a:prstGeom prst="ellipse">
            <a:avLst/>
          </a:prstGeom>
          <a:solidFill>
            <a:srgbClr val="1A8FA0"/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475488" y="26517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22960" y="2615184"/>
            <a:ext cx="4526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2136"/>
                </a:solidFill>
                <a:latin typeface="Calibri"/>
                <a:ea typeface="Calibri"/>
                <a:cs typeface="Calibri"/>
                <a:sym typeface="Calibri"/>
              </a:rPr>
              <a:t>Users cannot ask questions in plain English like 'Will it rain in Chennai tomorrow?'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75488" y="3182112"/>
            <a:ext cx="256032" cy="256032"/>
          </a:xfrm>
          <a:prstGeom prst="ellipse">
            <a:avLst/>
          </a:prstGeom>
          <a:solidFill>
            <a:srgbClr val="1A8FA0"/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475488" y="318211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22960" y="3145536"/>
            <a:ext cx="4526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2136"/>
                </a:solidFill>
                <a:latin typeface="Calibri"/>
                <a:ea typeface="Calibri"/>
                <a:cs typeface="Calibri"/>
                <a:sym typeface="Calibri"/>
              </a:rPr>
              <a:t>No existing NLP pipeline to understand weather-related intents and extract key entities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75488" y="3712464"/>
            <a:ext cx="256032" cy="256032"/>
          </a:xfrm>
          <a:prstGeom prst="ellipse">
            <a:avLst/>
          </a:prstGeom>
          <a:solidFill>
            <a:srgbClr val="1A8FA0"/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75488" y="371246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22960" y="3675888"/>
            <a:ext cx="4526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2136"/>
                </a:solidFill>
                <a:latin typeface="Calibri"/>
                <a:ea typeface="Calibri"/>
                <a:cs typeface="Calibri"/>
                <a:sym typeface="Calibri"/>
              </a:rPr>
              <a:t>Raw text from weather datasets has unexplored sentiment signals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5488" y="4242816"/>
            <a:ext cx="256032" cy="256032"/>
          </a:xfrm>
          <a:prstGeom prst="ellipse">
            <a:avLst/>
          </a:prstGeom>
          <a:solidFill>
            <a:srgbClr val="1A8FA0"/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475488" y="424281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22960" y="4206240"/>
            <a:ext cx="4526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13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2136"/>
                </a:solidFill>
                <a:latin typeface="Calibri"/>
                <a:ea typeface="Calibri"/>
                <a:cs typeface="Calibri"/>
                <a:sym typeface="Calibri"/>
              </a:rPr>
              <a:t>No unified model that tokenizes, classifies intent, and generates a natural response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715000" y="1572768"/>
            <a:ext cx="3108960" cy="3383280"/>
          </a:xfrm>
          <a:prstGeom prst="rect">
            <a:avLst/>
          </a:prstGeom>
          <a:solidFill>
            <a:srgbClr val="062C43"/>
          </a:solidFill>
          <a:ln cap="flat" cmpd="sng" w="12700">
            <a:solidFill>
              <a:srgbClr val="062C43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635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5715000" y="1572768"/>
            <a:ext cx="3108960" cy="73152"/>
          </a:xfrm>
          <a:prstGeom prst="rect">
            <a:avLst/>
          </a:prstGeom>
          <a:solidFill>
            <a:srgbClr val="5BC8D4"/>
          </a:solidFill>
          <a:ln cap="flat" cmpd="sng" w="12700">
            <a:solidFill>
              <a:srgbClr val="5B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5806440" y="166420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C8D4"/>
                </a:solidFill>
                <a:latin typeface="Calibri"/>
                <a:ea typeface="Calibri"/>
                <a:cs typeface="Calibri"/>
                <a:sym typeface="Calibri"/>
              </a:rPr>
              <a:t>Solution Vision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852160" y="2084832"/>
            <a:ext cx="2788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AI Chatbot that understands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natural language weather queries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Extracts entities like city,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date, and weather condition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Classifies intent using 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(Logistic Regression)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Detects sentiment in weather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(positive / negative)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Responds accurately using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processed data &amp; API calls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62C43"/>
          </a:solidFill>
          <a:ln cap="flat" cmpd="sng" w="12700">
            <a:solidFill>
              <a:srgbClr val="062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C8D4"/>
                </a:solidFill>
                <a:latin typeface="Calibri"/>
                <a:ea typeface="Calibri"/>
                <a:cs typeface="Calibri"/>
                <a:sym typeface="Calibri"/>
              </a:rPr>
              <a:t>Weather Forecast Chatbot  |  NLP &amp; ML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858000" y="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A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AB8"/>
                </a:solidFill>
                <a:latin typeface="Calibri"/>
                <a:ea typeface="Calibri"/>
                <a:cs typeface="Calibri"/>
                <a:sym typeface="Calibri"/>
              </a:rPr>
              <a:t>IT Department  | 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11480" y="59436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11480" y="11155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FA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1A8FA0"/>
                </a:solidFill>
                <a:latin typeface="Calibri"/>
                <a:ea typeface="Calibri"/>
                <a:cs typeface="Calibri"/>
                <a:sym typeface="Calibri"/>
              </a:rPr>
              <a:t>Six clearly defined goals for this project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11480" y="1417320"/>
            <a:ext cx="1097280" cy="50292"/>
          </a:xfrm>
          <a:prstGeom prst="rect">
            <a:avLst/>
          </a:prstGeom>
          <a:solidFill>
            <a:srgbClr val="1A8FA0"/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36192" y="1417320"/>
            <a:ext cx="7196328" cy="50292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EA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92608" y="1572768"/>
            <a:ext cx="2743200" cy="1508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5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92608" y="1572768"/>
            <a:ext cx="2743200" cy="182880"/>
          </a:xfrm>
          <a:prstGeom prst="rect">
            <a:avLst/>
          </a:prstGeom>
          <a:solidFill>
            <a:srgbClr val="1A8FA0"/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84048" y="157276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57200" y="1828800"/>
            <a:ext cx="475488" cy="475488"/>
          </a:xfrm>
          <a:prstGeom prst="ellipse">
            <a:avLst/>
          </a:prstGeom>
          <a:solidFill>
            <a:srgbClr val="1A8FA0">
              <a:alpha val="14901"/>
            </a:srgbClr>
          </a:solidFill>
          <a:ln cap="flat" cmpd="sng" w="12700">
            <a:solidFill>
              <a:srgbClr val="1A8FA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57200" y="18288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005840" y="184708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Dataset Collection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02336" y="235000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5F72"/>
                </a:solidFill>
                <a:latin typeface="Calibri"/>
                <a:ea typeface="Calibri"/>
                <a:cs typeface="Calibri"/>
                <a:sym typeface="Calibri"/>
              </a:rPr>
              <a:t>Gather &amp; preprocess weather text datasets (CSV, JSON, TXT) for model training and NLP tasks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246120" y="1572768"/>
            <a:ext cx="2743200" cy="1508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5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3246120" y="1572768"/>
            <a:ext cx="2743200" cy="182880"/>
          </a:xfrm>
          <a:prstGeom prst="rect">
            <a:avLst/>
          </a:prstGeom>
          <a:solidFill>
            <a:srgbClr val="054A72"/>
          </a:solidFill>
          <a:ln cap="flat" cmpd="sng" w="12700">
            <a:solidFill>
              <a:srgbClr val="054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3337560" y="157276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410712" y="1828800"/>
            <a:ext cx="475488" cy="475488"/>
          </a:xfrm>
          <a:prstGeom prst="ellipse">
            <a:avLst/>
          </a:prstGeom>
          <a:solidFill>
            <a:srgbClr val="054A72">
              <a:alpha val="14901"/>
            </a:srgbClr>
          </a:solidFill>
          <a:ln cap="flat" cmpd="sng" w="12700">
            <a:solidFill>
              <a:srgbClr val="054A7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410712" y="18288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959352" y="184708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NLP Pipeline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355848" y="235000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5F72"/>
                </a:solidFill>
                <a:latin typeface="Calibri"/>
                <a:ea typeface="Calibri"/>
                <a:cs typeface="Calibri"/>
                <a:sym typeface="Calibri"/>
              </a:rPr>
              <a:t>Apply tokenization, stemming, lemmatization, and stopword removal using NLTK &amp; spaCy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199632" y="1572768"/>
            <a:ext cx="2743200" cy="1508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5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6199632" y="1572768"/>
            <a:ext cx="2743200" cy="182880"/>
          </a:xfrm>
          <a:prstGeom prst="rect">
            <a:avLst/>
          </a:prstGeom>
          <a:solidFill>
            <a:srgbClr val="F08030"/>
          </a:solidFill>
          <a:ln cap="flat" cmpd="sng" w="12700">
            <a:solidFill>
              <a:srgbClr val="F08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291072" y="157276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364224" y="1828800"/>
            <a:ext cx="475488" cy="475488"/>
          </a:xfrm>
          <a:prstGeom prst="ellipse">
            <a:avLst/>
          </a:prstGeom>
          <a:solidFill>
            <a:srgbClr val="F08030">
              <a:alpha val="14901"/>
            </a:srgbClr>
          </a:solidFill>
          <a:ln cap="flat" cmpd="sng" w="12700">
            <a:solidFill>
              <a:srgbClr val="F0803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364224" y="18288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912864" y="184708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Entity &amp; Pattern Recognition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309360" y="235000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5F72"/>
                </a:solidFill>
                <a:latin typeface="Calibri"/>
                <a:ea typeface="Calibri"/>
                <a:cs typeface="Calibri"/>
                <a:sym typeface="Calibri"/>
              </a:rPr>
              <a:t>Identify named entities (GPE, TIME, EVENT) and define patterns using spaCy Matcher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92608" y="3264408"/>
            <a:ext cx="2743200" cy="1508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5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292608" y="3264408"/>
            <a:ext cx="2743200" cy="18288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84048" y="32644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57200" y="3520440"/>
            <a:ext cx="475488" cy="475488"/>
          </a:xfrm>
          <a:prstGeom prst="ellipse">
            <a:avLst/>
          </a:prstGeom>
          <a:solidFill>
            <a:srgbClr val="8B5CF6">
              <a:alpha val="14901"/>
            </a:srgbClr>
          </a:solidFill>
          <a:ln cap="flat" cmpd="sng" w="12700">
            <a:solidFill>
              <a:srgbClr val="8B5CF6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57200" y="352044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005840" y="353872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Text Classification (ML)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02336" y="404164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5F72"/>
                </a:solidFill>
                <a:latin typeface="Calibri"/>
                <a:ea typeface="Calibri"/>
                <a:cs typeface="Calibri"/>
                <a:sym typeface="Calibri"/>
              </a:rPr>
              <a:t>Train Logistic Regression classifier for weather intent prediction with TF-IDF vectorizer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246120" y="3264408"/>
            <a:ext cx="2743200" cy="1508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5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246120" y="3264408"/>
            <a:ext cx="2743200" cy="18288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3337560" y="32644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410712" y="3520440"/>
            <a:ext cx="475488" cy="475488"/>
          </a:xfrm>
          <a:prstGeom prst="ellipse">
            <a:avLst/>
          </a:prstGeom>
          <a:solidFill>
            <a:srgbClr val="2ECC71">
              <a:alpha val="14901"/>
            </a:srgbClr>
          </a:solidFill>
          <a:ln cap="flat" cmpd="sng" w="12700">
            <a:solidFill>
              <a:srgbClr val="2ECC7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3410712" y="352044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959352" y="353872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Sentiment Analysis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355848" y="404164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5F72"/>
                </a:solidFill>
                <a:latin typeface="Calibri"/>
                <a:ea typeface="Calibri"/>
                <a:cs typeface="Calibri"/>
                <a:sym typeface="Calibri"/>
              </a:rPr>
              <a:t>Detect positive, neutral, and negative polarity in weather-related user inputs and dataset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199632" y="3264408"/>
            <a:ext cx="2743200" cy="15087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5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6199632" y="3264408"/>
            <a:ext cx="2743200" cy="182880"/>
          </a:xfrm>
          <a:prstGeom prst="rect">
            <a:avLst/>
          </a:prstGeom>
          <a:solidFill>
            <a:srgbClr val="E05050"/>
          </a:solidFill>
          <a:ln cap="flat" cmpd="sng" w="12700">
            <a:solidFill>
              <a:srgbClr val="E05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291072" y="326440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364224" y="3520440"/>
            <a:ext cx="475488" cy="475488"/>
          </a:xfrm>
          <a:prstGeom prst="ellipse">
            <a:avLst/>
          </a:prstGeom>
          <a:solidFill>
            <a:srgbClr val="E05050">
              <a:alpha val="14901"/>
            </a:srgbClr>
          </a:solidFill>
          <a:ln cap="flat" cmpd="sng" w="12700">
            <a:solidFill>
              <a:srgbClr val="E0505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364224" y="352044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912864" y="3538728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Chatbot Integration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309360" y="404164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5F72"/>
                </a:solidFill>
                <a:latin typeface="Calibri"/>
                <a:ea typeface="Calibri"/>
                <a:cs typeface="Calibri"/>
                <a:sym typeface="Calibri"/>
              </a:rPr>
              <a:t>Connect all pipelines into a functional chatbot that accepts queries and returns responses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62C43"/>
          </a:solidFill>
          <a:ln cap="flat" cmpd="sng" w="12700">
            <a:solidFill>
              <a:srgbClr val="062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C8D4"/>
                </a:solidFill>
                <a:latin typeface="Calibri"/>
                <a:ea typeface="Calibri"/>
                <a:cs typeface="Calibri"/>
                <a:sym typeface="Calibri"/>
              </a:rPr>
              <a:t>Weather Forecast Chatbot  |  NLP &amp; ML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858000" y="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A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AB8"/>
                </a:solidFill>
                <a:latin typeface="Calibri"/>
                <a:ea typeface="Calibri"/>
                <a:cs typeface="Calibri"/>
                <a:sym typeface="Calibri"/>
              </a:rPr>
              <a:t>IT Department  | 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11480" y="59436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Tools &amp; Packages Used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11480" y="111556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8FA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1A8FA0"/>
                </a:solidFill>
                <a:latin typeface="Calibri"/>
                <a:ea typeface="Calibri"/>
                <a:cs typeface="Calibri"/>
                <a:sym typeface="Calibri"/>
              </a:rPr>
              <a:t>Complete technology stack for the Weather Chatbot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11480" y="1417320"/>
            <a:ext cx="1097280" cy="50292"/>
          </a:xfrm>
          <a:prstGeom prst="rect">
            <a:avLst/>
          </a:prstGeom>
          <a:solidFill>
            <a:srgbClr val="1A8FA0"/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1536192" y="1417320"/>
            <a:ext cx="7196328" cy="50292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EA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292608" y="1572768"/>
            <a:ext cx="2743200" cy="10241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5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292608" y="1572768"/>
            <a:ext cx="54864" cy="1024128"/>
          </a:xfrm>
          <a:prstGeom prst="rect">
            <a:avLst/>
          </a:prstGeom>
          <a:solidFill>
            <a:srgbClr val="F4B400"/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2304288" y="1645920"/>
            <a:ext cx="640080" cy="201168"/>
          </a:xfrm>
          <a:prstGeom prst="rect">
            <a:avLst/>
          </a:prstGeom>
          <a:solidFill>
            <a:srgbClr val="F4B400">
              <a:alpha val="74901"/>
            </a:srgbClr>
          </a:solidFill>
          <a:ln cap="flat" cmpd="sng" w="1270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2304288" y="164592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29768" y="16642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Google Colab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29768" y="2048256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5F72"/>
                </a:solidFill>
                <a:latin typeface="Calibri"/>
                <a:ea typeface="Calibri"/>
                <a:cs typeface="Calibri"/>
                <a:sym typeface="Calibri"/>
              </a:rPr>
              <a:t>Cloud-based Python IDE &amp; GPU runtime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246120" y="1572768"/>
            <a:ext cx="2743200" cy="10241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5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3246120" y="1572768"/>
            <a:ext cx="54864" cy="1024128"/>
          </a:xfrm>
          <a:prstGeom prst="rect">
            <a:avLst/>
          </a:prstGeom>
          <a:solidFill>
            <a:srgbClr val="1A8FA0"/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5257800" y="1645920"/>
            <a:ext cx="640080" cy="201168"/>
          </a:xfrm>
          <a:prstGeom prst="rect">
            <a:avLst/>
          </a:prstGeom>
          <a:solidFill>
            <a:srgbClr val="1A8FA0">
              <a:alpha val="74901"/>
            </a:srgbClr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5257800" y="164592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NLP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383280" y="16642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spaCy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383280" y="2048256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5F72"/>
                </a:solidFill>
                <a:latin typeface="Calibri"/>
                <a:ea typeface="Calibri"/>
                <a:cs typeface="Calibri"/>
                <a:sym typeface="Calibri"/>
              </a:rPr>
              <a:t>Industrial NLP: NER, Noun Chunks, Patterns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199632" y="1572768"/>
            <a:ext cx="2743200" cy="10241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5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6199632" y="1572768"/>
            <a:ext cx="54864" cy="1024128"/>
          </a:xfrm>
          <a:prstGeom prst="rect">
            <a:avLst/>
          </a:prstGeom>
          <a:solidFill>
            <a:srgbClr val="3A7D44"/>
          </a:solidFill>
          <a:ln cap="flat" cmpd="sng" w="12700">
            <a:solidFill>
              <a:srgbClr val="3A7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8211312" y="1645920"/>
            <a:ext cx="640080" cy="201168"/>
          </a:xfrm>
          <a:prstGeom prst="rect">
            <a:avLst/>
          </a:prstGeom>
          <a:solidFill>
            <a:srgbClr val="1A8FA0">
              <a:alpha val="74901"/>
            </a:srgbClr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8211312" y="164592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NLP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336792" y="16642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NLTK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336792" y="2048256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5F72"/>
                </a:solidFill>
                <a:latin typeface="Calibri"/>
                <a:ea typeface="Calibri"/>
                <a:cs typeface="Calibri"/>
                <a:sym typeface="Calibri"/>
              </a:rPr>
              <a:t>Tokenization, Stemming, Lemmatization, Stopwords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292608" y="2743200"/>
            <a:ext cx="2743200" cy="10241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5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292608" y="2743200"/>
            <a:ext cx="54864" cy="1024128"/>
          </a:xfrm>
          <a:prstGeom prst="rect">
            <a:avLst/>
          </a:prstGeom>
          <a:solidFill>
            <a:srgbClr val="F08030"/>
          </a:solidFill>
          <a:ln cap="flat" cmpd="sng" w="12700">
            <a:solidFill>
              <a:srgbClr val="F08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2304288" y="2816352"/>
            <a:ext cx="640080" cy="201168"/>
          </a:xfrm>
          <a:prstGeom prst="rect">
            <a:avLst/>
          </a:prstGeom>
          <a:solidFill>
            <a:srgbClr val="F08030">
              <a:alpha val="74901"/>
            </a:srgbClr>
          </a:solidFill>
          <a:ln cap="flat" cmpd="sng" w="12700">
            <a:solidFill>
              <a:srgbClr val="F08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2304288" y="28163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29768" y="28346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29768" y="3218688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5F72"/>
                </a:solidFill>
                <a:latin typeface="Calibri"/>
                <a:ea typeface="Calibri"/>
                <a:cs typeface="Calibri"/>
                <a:sym typeface="Calibri"/>
              </a:rPr>
              <a:t>Logistic Regression, TF-IDF, Train-Test Split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246120" y="2743200"/>
            <a:ext cx="2743200" cy="10241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5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246120" y="2743200"/>
            <a:ext cx="54864" cy="1024128"/>
          </a:xfrm>
          <a:prstGeom prst="rect">
            <a:avLst/>
          </a:prstGeom>
          <a:solidFill>
            <a:srgbClr val="013243"/>
          </a:solidFill>
          <a:ln cap="flat" cmpd="sng" w="12700">
            <a:solidFill>
              <a:srgbClr val="0132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5257800" y="2816352"/>
            <a:ext cx="640080" cy="201168"/>
          </a:xfrm>
          <a:prstGeom prst="rect">
            <a:avLst/>
          </a:prstGeom>
          <a:solidFill>
            <a:srgbClr val="054A72">
              <a:alpha val="74901"/>
            </a:srgbClr>
          </a:solidFill>
          <a:ln cap="flat" cmpd="sng" w="12700">
            <a:solidFill>
              <a:srgbClr val="054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257800" y="28163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383280" y="28346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383280" y="3218688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5F72"/>
                </a:solidFill>
                <a:latin typeface="Calibri"/>
                <a:ea typeface="Calibri"/>
                <a:cs typeface="Calibri"/>
                <a:sym typeface="Calibri"/>
              </a:rPr>
              <a:t>Array operations &amp; numerical computing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6199632" y="2743200"/>
            <a:ext cx="2743200" cy="10241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5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6199632" y="2743200"/>
            <a:ext cx="54864" cy="1024128"/>
          </a:xfrm>
          <a:prstGeom prst="rect">
            <a:avLst/>
          </a:prstGeom>
          <a:solidFill>
            <a:srgbClr val="150458"/>
          </a:solidFill>
          <a:ln cap="flat" cmpd="sng" w="12700">
            <a:solidFill>
              <a:srgbClr val="1504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8211312" y="2816352"/>
            <a:ext cx="640080" cy="201168"/>
          </a:xfrm>
          <a:prstGeom prst="rect">
            <a:avLst/>
          </a:prstGeom>
          <a:solidFill>
            <a:srgbClr val="054A72">
              <a:alpha val="74901"/>
            </a:srgbClr>
          </a:solidFill>
          <a:ln cap="flat" cmpd="sng" w="12700">
            <a:solidFill>
              <a:srgbClr val="054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8211312" y="28163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336792" y="28346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336792" y="3218688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5F72"/>
                </a:solidFill>
                <a:latin typeface="Calibri"/>
                <a:ea typeface="Calibri"/>
                <a:cs typeface="Calibri"/>
                <a:sym typeface="Calibri"/>
              </a:rPr>
              <a:t>Dataset loading, filtering, manipulation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92608" y="3913632"/>
            <a:ext cx="2743200" cy="1024128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5E8E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292608" y="3913632"/>
            <a:ext cx="54864" cy="1024128"/>
          </a:xfrm>
          <a:prstGeom prst="rect">
            <a:avLst/>
          </a:prstGeom>
          <a:solidFill>
            <a:srgbClr val="11557C"/>
          </a:solidFill>
          <a:ln cap="flat" cmpd="sng" w="12700">
            <a:solidFill>
              <a:srgbClr val="1155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2304288" y="3986784"/>
            <a:ext cx="640080" cy="201168"/>
          </a:xfrm>
          <a:prstGeom prst="rect">
            <a:avLst/>
          </a:prstGeom>
          <a:solidFill>
            <a:srgbClr val="8B5CF6">
              <a:alpha val="74901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2304288" y="3986784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Viz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29768" y="400507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29768" y="4389120"/>
            <a:ext cx="25420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5F72"/>
                </a:solidFill>
                <a:latin typeface="Calibri"/>
                <a:ea typeface="Calibri"/>
                <a:cs typeface="Calibri"/>
                <a:sym typeface="Calibri"/>
              </a:rPr>
              <a:t>Plotting charts, confusion matrix, accuracy graphs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/>
          <p:nvPr/>
        </p:nvSpPr>
        <p:spPr>
          <a:xfrm>
            <a:off x="0" y="0"/>
            <a:ext cx="9144000" cy="400200"/>
          </a:xfrm>
          <a:prstGeom prst="rect">
            <a:avLst/>
          </a:prstGeom>
          <a:solidFill>
            <a:srgbClr val="062C43"/>
          </a:solidFill>
          <a:ln cap="flat" cmpd="sng" w="12700">
            <a:solidFill>
              <a:srgbClr val="062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C8D4"/>
                </a:solidFill>
                <a:latin typeface="Calibri"/>
                <a:ea typeface="Calibri"/>
                <a:cs typeface="Calibri"/>
                <a:sym typeface="Calibri"/>
              </a:rPr>
              <a:t>Weather Forecast Chatbot  |  NLP &amp; ML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6858000" y="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A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AB8"/>
                </a:solidFill>
                <a:latin typeface="Calibri"/>
                <a:ea typeface="Calibri"/>
                <a:cs typeface="Calibri"/>
                <a:sym typeface="Calibri"/>
              </a:rPr>
              <a:t>IT Department  | 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411475" y="400200"/>
            <a:ext cx="8321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C43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62C43"/>
                </a:solidFill>
                <a:latin typeface="Calibri"/>
                <a:ea typeface="Calibri"/>
                <a:cs typeface="Calibri"/>
                <a:sym typeface="Calibri"/>
              </a:rPr>
              <a:t>TEST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274325" y="994500"/>
            <a:ext cx="5632200" cy="4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Objective: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	To evaluate the chatbot’s performance after development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understanding and responding to weather-related queries.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r>
              <a:rPr b="1" lang="en-US"/>
              <a:t>Planned Testing Areas:</a:t>
            </a:r>
            <a:endParaRPr b="1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Location-based queries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Date-based forecast queries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Natural language understanding accuracy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Invalid/unknown input handling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Response time measurement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Evaluation Criteria: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	• Accuracy in detecting location and 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	• Correct weather data retrieval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	• Speed of response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	• User interaction quality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Expected Outcome: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	The chatbot should provide accurate, fast, and user-friendly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weather forecast information once fully implemented</a:t>
            </a:r>
            <a:endParaRPr/>
          </a:p>
        </p:txBody>
      </p:sp>
      <p:pic>
        <p:nvPicPr>
          <p:cNvPr id="185" name="Google Shape;1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750" y="475500"/>
            <a:ext cx="3493925" cy="46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4"/>
          <p:cNvSpPr/>
          <p:nvPr/>
        </p:nvSpPr>
        <p:spPr>
          <a:xfrm>
            <a:off x="411473" y="928212"/>
            <a:ext cx="1357200" cy="69300"/>
          </a:xfrm>
          <a:prstGeom prst="rect">
            <a:avLst/>
          </a:prstGeom>
          <a:solidFill>
            <a:srgbClr val="1A8FA0"/>
          </a:solidFill>
          <a:ln cap="flat" cmpd="sng" w="12700">
            <a:solidFill>
              <a:srgbClr val="1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62C43"/>
          </a:solidFill>
          <a:ln cap="flat" cmpd="sng" w="12700">
            <a:solidFill>
              <a:srgbClr val="062C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274320" y="0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D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C8D4"/>
                </a:solidFill>
                <a:latin typeface="Calibri"/>
                <a:ea typeface="Calibri"/>
                <a:cs typeface="Calibri"/>
                <a:sym typeface="Calibri"/>
              </a:rPr>
              <a:t>Weather Forecast Chatbot  |  NLP &amp; ML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858000" y="0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A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AB8"/>
                </a:solidFill>
                <a:latin typeface="Calibri"/>
                <a:ea typeface="Calibri"/>
                <a:cs typeface="Calibri"/>
                <a:sym typeface="Calibri"/>
              </a:rPr>
              <a:t>IT Department  |  2024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11480" y="59436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1931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A1931"/>
                </a:solidFill>
                <a:latin typeface="Calibri"/>
                <a:ea typeface="Calibri"/>
                <a:cs typeface="Calibri"/>
                <a:sym typeface="Calibri"/>
              </a:rPr>
              <a:t>Findings &amp;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536192" y="1417320"/>
            <a:ext cx="7196328" cy="50292"/>
          </a:xfrm>
          <a:prstGeom prst="rect">
            <a:avLst/>
          </a:prstGeom>
          <a:solidFill>
            <a:srgbClr val="EAF4F7"/>
          </a:solidFill>
          <a:ln cap="flat" cmpd="sng" w="12700">
            <a:solidFill>
              <a:srgbClr val="EA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2404872" y="1901952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D4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437376" y="284378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8030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20040" y="478231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A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AAAB8"/>
                </a:solidFill>
                <a:latin typeface="Calibri"/>
                <a:ea typeface="Calibri"/>
                <a:cs typeface="Calibri"/>
                <a:sym typeface="Calibri"/>
              </a:rPr>
              <a:t>💡  Tip: All CSV files loaded with Pandas. TXT files read with Python's open(). JSON parsed with json.load(). Apply df.dropna() and df.drop_duplicates() for preprocessing.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828800"/>
            <a:ext cx="4755000" cy="30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A1931"/>
          </a:solidFill>
          <a:ln cap="flat" cmpd="sng" w="12700">
            <a:solidFill>
              <a:srgbClr val="0A19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274320" y="0"/>
            <a:ext cx="5486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☁ Weather Forecast Chatbot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11475" y="1046899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Key outcomes from all 6 tasks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57200" y="1645920"/>
            <a:ext cx="502800" cy="54900"/>
          </a:xfrm>
          <a:prstGeom prst="rect">
            <a:avLst/>
          </a:prstGeom>
          <a:solidFill>
            <a:srgbClr val="42A5F5"/>
          </a:solidFill>
          <a:ln cap="flat" cmpd="sng" w="12700">
            <a:solidFill>
              <a:srgbClr val="42A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828800"/>
            <a:ext cx="4755000" cy="30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/>
          <p:nvPr/>
        </p:nvSpPr>
        <p:spPr>
          <a:xfrm>
            <a:off x="5212080" y="1828800"/>
            <a:ext cx="3566100" cy="3017400"/>
          </a:xfrm>
          <a:prstGeom prst="rect">
            <a:avLst/>
          </a:prstGeom>
          <a:solidFill>
            <a:srgbClr val="0A1931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5349240" y="1901952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2A5F5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349240" y="2286000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Logistic Regression achieved 89.7% test accuracy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349240" y="2697480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spaCy identified GPE, TIME, EVENT entities accurately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349240" y="3108960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NLTK preprocessing reduced noise by ~60%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5349240" y="3520440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Majority weather text: 42% Positive sentiment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349240" y="3931920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TF-IDF vectorization boosted classification by 12%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349240" y="4343400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Pattern matching correctly flagged 5 weather intents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2C43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054A72"/>
          </a:solidFill>
          <a:ln cap="flat" cmpd="sng" w="12700">
            <a:solidFill>
              <a:srgbClr val="054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5"/>
          <p:cNvSpPr/>
          <p:nvPr/>
        </p:nvSpPr>
        <p:spPr>
          <a:xfrm>
            <a:off x="7498080" y="-182880"/>
            <a:ext cx="2743200" cy="2743200"/>
          </a:xfrm>
          <a:prstGeom prst="ellipse">
            <a:avLst/>
          </a:prstGeom>
          <a:solidFill>
            <a:srgbClr val="1A8FA0">
              <a:alpha val="20000"/>
            </a:srgbClr>
          </a:solidFill>
          <a:ln cap="flat" cmpd="sng" w="12700">
            <a:solidFill>
              <a:srgbClr val="1A8FA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"/>
          <p:cNvSpPr/>
          <p:nvPr/>
        </p:nvSpPr>
        <p:spPr>
          <a:xfrm>
            <a:off x="-1097280" y="3395832"/>
            <a:ext cx="3200400" cy="3200400"/>
          </a:xfrm>
          <a:prstGeom prst="ellipse">
            <a:avLst/>
          </a:prstGeom>
          <a:solidFill>
            <a:srgbClr val="054A72"/>
          </a:solidFill>
          <a:ln cap="flat" cmpd="sng" w="12700">
            <a:solidFill>
              <a:srgbClr val="054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2" name="Google Shape;222;p15"/>
          <p:cNvSpPr/>
          <p:nvPr/>
        </p:nvSpPr>
        <p:spPr>
          <a:xfrm>
            <a:off x="365750" y="0"/>
            <a:ext cx="1024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365750" y="918825"/>
            <a:ext cx="7315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365760" y="1438301"/>
            <a:ext cx="3200400" cy="54900"/>
          </a:xfrm>
          <a:prstGeom prst="rect">
            <a:avLst/>
          </a:prstGeom>
          <a:solidFill>
            <a:srgbClr val="5BC8D4"/>
          </a:solidFill>
          <a:ln cap="flat" cmpd="sng" w="12700">
            <a:solidFill>
              <a:srgbClr val="5B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365760" y="1786488"/>
            <a:ext cx="201300" cy="201300"/>
          </a:xfrm>
          <a:prstGeom prst="rect">
            <a:avLst/>
          </a:prstGeom>
          <a:solidFill>
            <a:srgbClr val="5BC8D4"/>
          </a:solidFill>
          <a:ln cap="flat" cmpd="sng" w="12700">
            <a:solidFill>
              <a:srgbClr val="5B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6" name="Google Shape;226;p15"/>
          <p:cNvSpPr/>
          <p:nvPr/>
        </p:nvSpPr>
        <p:spPr>
          <a:xfrm>
            <a:off x="658368" y="1731624"/>
            <a:ext cx="8046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This project successfully demonstrated how </a:t>
            </a:r>
            <a:r>
              <a:rPr b="1" lang="en-US" sz="1200">
                <a:solidFill>
                  <a:schemeClr val="lt1"/>
                </a:solidFill>
              </a:rPr>
              <a:t>Natural Language Processing and Machine Learning</a:t>
            </a:r>
            <a:r>
              <a:rPr lang="en-US" sz="1200">
                <a:solidFill>
                  <a:schemeClr val="lt1"/>
                </a:solidFill>
              </a:rPr>
              <a:t> can be combined to build an intelligent </a:t>
            </a:r>
            <a:r>
              <a:rPr b="1" lang="en-US" sz="1200">
                <a:solidFill>
                  <a:schemeClr val="lt1"/>
                </a:solidFill>
              </a:rPr>
              <a:t>Weather Forecast Chatbot</a:t>
            </a:r>
            <a:r>
              <a:rPr lang="en-US" sz="1200">
                <a:solidFill>
                  <a:schemeClr val="lt1"/>
                </a:solidFill>
              </a:rPr>
              <a:t>. </a:t>
            </a:r>
            <a:endParaRPr i="0" sz="1200" u="none" cap="none" strike="noStrike">
              <a:solidFill>
                <a:schemeClr val="lt1"/>
              </a:solidFill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365760" y="2298552"/>
            <a:ext cx="201300" cy="201300"/>
          </a:xfrm>
          <a:prstGeom prst="rect">
            <a:avLst/>
          </a:prstGeom>
          <a:solidFill>
            <a:srgbClr val="5BC8D4"/>
          </a:solidFill>
          <a:ln cap="flat" cmpd="sng" w="12700">
            <a:solidFill>
              <a:srgbClr val="5B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8" name="Google Shape;228;p15"/>
          <p:cNvSpPr/>
          <p:nvPr/>
        </p:nvSpPr>
        <p:spPr>
          <a:xfrm>
            <a:off x="658431" y="2180590"/>
            <a:ext cx="8046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We implemented a complete NLP pipeline including tokenization, stemming, lemmatization, and stopword removal, and applied </a:t>
            </a:r>
            <a:r>
              <a:rPr b="1" lang="en-US" sz="1200">
                <a:solidFill>
                  <a:schemeClr val="lt1"/>
                </a:solidFill>
              </a:rPr>
              <a:t>spaCy</a:t>
            </a:r>
            <a:r>
              <a:rPr lang="en-US" sz="1200">
                <a:solidFill>
                  <a:schemeClr val="lt1"/>
                </a:solidFill>
              </a:rPr>
              <a:t> for entity recognition to accurately extract weather-related information.</a:t>
            </a:r>
            <a:endParaRPr i="0" sz="1200" u="none" cap="none" strike="noStrike">
              <a:solidFill>
                <a:schemeClr val="lt1"/>
              </a:solidFill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365760" y="2810616"/>
            <a:ext cx="201300" cy="201300"/>
          </a:xfrm>
          <a:prstGeom prst="rect">
            <a:avLst/>
          </a:prstGeom>
          <a:solidFill>
            <a:srgbClr val="5BC8D4"/>
          </a:solidFill>
          <a:ln cap="flat" cmpd="sng" w="12700">
            <a:solidFill>
              <a:srgbClr val="5B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0" name="Google Shape;230;p15"/>
          <p:cNvSpPr/>
          <p:nvPr/>
        </p:nvSpPr>
        <p:spPr>
          <a:xfrm>
            <a:off x="658368" y="2755752"/>
            <a:ext cx="8046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200">
                <a:solidFill>
                  <a:schemeClr val="lt1"/>
                </a:solidFill>
              </a:rPr>
              <a:t>Using </a:t>
            </a:r>
            <a:r>
              <a:rPr b="1" lang="en-US" sz="1200">
                <a:solidFill>
                  <a:schemeClr val="lt1"/>
                </a:solidFill>
              </a:rPr>
              <a:t>TF-IDF</a:t>
            </a:r>
            <a:r>
              <a:rPr lang="en-US" sz="1200">
                <a:solidFill>
                  <a:schemeClr val="lt1"/>
                </a:solidFill>
              </a:rPr>
              <a:t> with </a:t>
            </a:r>
            <a:r>
              <a:rPr b="1" lang="en-US" sz="1200">
                <a:solidFill>
                  <a:schemeClr val="lt1"/>
                </a:solidFill>
              </a:rPr>
              <a:t>Logistic Regression</a:t>
            </a:r>
            <a:r>
              <a:rPr lang="en-US" sz="1200">
                <a:solidFill>
                  <a:schemeClr val="lt1"/>
                </a:solidFill>
              </a:rPr>
              <a:t>, the model achieved high classification accuracy across multiple weather intent categories. Sentiment analysis further helped understand the overall tone of weather-related queries.</a:t>
            </a:r>
            <a:endParaRPr i="0" sz="1200" u="none" cap="none" strike="noStrike">
              <a:solidFill>
                <a:schemeClr val="lt1"/>
              </a:solidFill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365760" y="3322680"/>
            <a:ext cx="201300" cy="201300"/>
          </a:xfrm>
          <a:prstGeom prst="rect">
            <a:avLst/>
          </a:prstGeom>
          <a:solidFill>
            <a:srgbClr val="5BC8D4"/>
          </a:solidFill>
          <a:ln cap="flat" cmpd="sng" w="12700">
            <a:solidFill>
              <a:srgbClr val="5B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2" name="Google Shape;232;p15"/>
          <p:cNvSpPr/>
          <p:nvPr/>
        </p:nvSpPr>
        <p:spPr>
          <a:xfrm>
            <a:off x="658356" y="3267816"/>
            <a:ext cx="8046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</a:rPr>
              <a:t>By integrating all components into a functional conversational pipeline, the chatbot was able to deliver reliable responses with strong performance.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365760" y="3834744"/>
            <a:ext cx="201300" cy="201300"/>
          </a:xfrm>
          <a:prstGeom prst="rect">
            <a:avLst/>
          </a:prstGeom>
          <a:solidFill>
            <a:srgbClr val="5BC8D4"/>
          </a:solidFill>
          <a:ln cap="flat" cmpd="sng" w="12700">
            <a:solidFill>
              <a:srgbClr val="5B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4" name="Google Shape;234;p15"/>
          <p:cNvSpPr/>
          <p:nvPr/>
        </p:nvSpPr>
        <p:spPr>
          <a:xfrm>
            <a:off x="658343" y="3798155"/>
            <a:ext cx="8046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</a:rPr>
              <a:t>Overall, this project highlights the practical application of NLP in real-time conversational systems and provides a foundation for future improvements such as advanced deep learning models, multilingual support, and live API integration.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365750" y="4407402"/>
            <a:ext cx="8412600" cy="438900"/>
          </a:xfrm>
          <a:prstGeom prst="rect">
            <a:avLst/>
          </a:prstGeom>
          <a:solidFill>
            <a:srgbClr val="1A8FA0">
              <a:alpha val="25098"/>
            </a:srgbClr>
          </a:solidFill>
          <a:ln cap="flat" cmpd="sng" w="12700">
            <a:solidFill>
              <a:srgbClr val="5BC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502920" y="4462272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8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BC8D4"/>
                </a:solidFill>
                <a:latin typeface="Calibri"/>
                <a:ea typeface="Calibri"/>
                <a:cs typeface="Calibri"/>
                <a:sym typeface="Calibri"/>
              </a:rPr>
              <a:t>Future Scope: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1389949" y="4462275"/>
            <a:ext cx="7205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BERT-based intent classification  |  Voice input support  |  Multi-language chatbot  |  Live API integration  |  Mobile App 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365760" y="4800600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8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BC8D4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r>
              <a:rPr b="1" lang="en-US" sz="1300">
                <a:solidFill>
                  <a:srgbClr val="5BC8D4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2026-02-27T03:22:15Z</dcterms:created>
  <dc:creator>IT Department</dc:creator>
</cp:coreProperties>
</file>